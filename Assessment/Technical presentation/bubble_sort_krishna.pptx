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65" r:id="rId12"/>
  </p:sldIdLst>
  <p:sldSz cx="18288000" cy="10287000"/>
  <p:notesSz cx="6858000" cy="9144000"/>
  <p:embeddedFontLst>
    <p:embeddedFont>
      <p:font typeface="Times New Roman Bold" panose="02020803070505020304" pitchFamily="18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350" y="382538"/>
            <a:ext cx="17259300" cy="2550387"/>
          </a:xfrm>
          <a:custGeom>
            <a:avLst/>
            <a:gdLst/>
            <a:ahLst/>
            <a:cxnLst/>
            <a:rect l="l" t="t" r="r" b="b"/>
            <a:pathLst>
              <a:path w="17259300" h="2550387">
                <a:moveTo>
                  <a:pt x="0" y="0"/>
                </a:moveTo>
                <a:lnTo>
                  <a:pt x="17259300" y="0"/>
                </a:lnTo>
                <a:lnTo>
                  <a:pt x="17259300" y="2550387"/>
                </a:lnTo>
                <a:lnTo>
                  <a:pt x="0" y="2550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60" t="-40335" r="-9036" b="-1756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901986" y="3418793"/>
            <a:ext cx="12484029" cy="127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Design and Analysis of Algorithm</a:t>
            </a:r>
          </a:p>
          <a:p>
            <a:pPr algn="ctr">
              <a:lnSpc>
                <a:spcPts val="5180"/>
              </a:lnSpc>
            </a:pPr>
            <a:r>
              <a:rPr lang="en-US" sz="37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CSA0617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914083"/>
            <a:ext cx="16230600" cy="151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BUBBLE SORT: WORKING, IMPLEMENTATION AND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2064" y="7279958"/>
            <a:ext cx="5486400" cy="140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Guided by </a:t>
            </a:r>
          </a:p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         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2064" y="7934325"/>
            <a:ext cx="5486400" cy="65883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 err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Dr.Sairam</a:t>
            </a:r>
            <a:r>
              <a:rPr lang="en-US" sz="40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47120" y="7283133"/>
            <a:ext cx="6492240" cy="69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Presented by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47120" y="7927022"/>
            <a:ext cx="649224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IN" altLang="en-US" sz="40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Natesa krishnan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Introduction to Bubble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8778240" cy="69494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What is Bubble Sort?</a:t>
            </a:r>
          </a:p>
          <a:p>
            <a:pPr algn="l">
              <a:spcAft>
                <a:spcPts val="14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Bubble sort is a comparison-based sorting algorithm. It repeatedly steps through the list, compares adjacent elements, and swaps them when they are in the wrong order.</a:t>
            </a:r>
          </a:p>
          <a:p>
            <a:pPr algn="l">
              <a:spcAft>
                <a:spcPts val="14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Each pass moves the largest remaining value to the end of the list, which is why the algorithm is named after bubbles rising to the surface.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It sorts in place with O(1) extra memory and is stable, so equal elements keep their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2926080"/>
            <a:ext cx="6400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UNSORTED INPUT</a:t>
            </a:r>
          </a:p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Courier New"/>
              </a:rPr>
              <a:t>5   1   4   2   8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807440" y="4572000"/>
            <a:ext cx="0" cy="64008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607040" y="5212080"/>
            <a:ext cx="6400800" cy="1645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Bubble Sort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compare and swap adjacent pairs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807440" y="6858000"/>
            <a:ext cx="0" cy="640079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607040" y="7498079"/>
            <a:ext cx="6400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SORTED OUTPUT</a:t>
            </a:r>
          </a:p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Courier New"/>
              </a:rPr>
              <a:t>1   2   4   5   8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The Problem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8595360" cy="69494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20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Growing Data: </a:t>
            </a:r>
            <a:r>
              <a:rPr sz="2600" b="0" i="0">
                <a:solidFill>
                  <a:srgbClr val="000000"/>
                </a:solidFill>
                <a:latin typeface="Times New Roman"/>
              </a:rPr>
              <a:t>Lists of records must be ordered before they can be searched or reported.</a:t>
            </a:r>
          </a:p>
          <a:p>
            <a:pPr algn="l">
              <a:spcAft>
                <a:spcPts val="220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Efficiency: </a:t>
            </a:r>
            <a:r>
              <a:rPr sz="2600" b="0" i="0">
                <a:solidFill>
                  <a:srgbClr val="000000"/>
                </a:solidFill>
                <a:latin typeface="Times New Roman"/>
              </a:rPr>
              <a:t>Naive ordering methods become slow as the list grows.</a:t>
            </a:r>
          </a:p>
          <a:p>
            <a:pPr algn="l">
              <a:spcAft>
                <a:spcPts val="220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Learning: </a:t>
            </a:r>
            <a:r>
              <a:rPr sz="2600" b="0" i="0">
                <a:solidFill>
                  <a:srgbClr val="000000"/>
                </a:solidFill>
                <a:latin typeface="Times New Roman"/>
              </a:rPr>
              <a:t>Bubble sort is the simplest sorting algorithm to understand and verify.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Practice: </a:t>
            </a:r>
            <a:r>
              <a:rPr sz="2600" b="0" i="0">
                <a:solidFill>
                  <a:srgbClr val="000000"/>
                </a:solidFill>
                <a:latin typeface="Times New Roman"/>
              </a:rPr>
              <a:t>Built-in library sorts are the right choice for real workloads.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926080"/>
            <a:ext cx="7498079" cy="30175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UNSORTED LIST</a:t>
            </a:r>
          </a:p>
          <a:p>
            <a:pPr algn="ctr">
              <a:spcAft>
                <a:spcPts val="1200"/>
              </a:spcAft>
            </a:pPr>
            <a:r>
              <a:rPr sz="3600" b="1" i="0">
                <a:solidFill>
                  <a:srgbClr val="000000"/>
                </a:solidFill>
                <a:latin typeface="Courier New"/>
              </a:rPr>
              <a:t>5   1   4   2   8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Adjacent pairs are out of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0" y="6492240"/>
            <a:ext cx="7498079" cy="30175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SORTED LIST</a:t>
            </a:r>
          </a:p>
          <a:p>
            <a:pPr algn="ctr">
              <a:spcAft>
                <a:spcPts val="1200"/>
              </a:spcAft>
            </a:pPr>
            <a:r>
              <a:rPr sz="3600" b="1" i="0">
                <a:solidFill>
                  <a:srgbClr val="000000"/>
                </a:solidFill>
                <a:latin typeface="Courier New"/>
              </a:rPr>
              <a:t>1   2   4   5   8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Each value is in its final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How Does Bubble Sort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8412480" cy="69494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1. Compare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Look at adjacent elements a[j] and a[j+1].</a:t>
            </a:r>
          </a:p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2. Swap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If a[j] is greater than a[j+1], exchange them.</a:t>
            </a:r>
          </a:p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3. Advance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Move one position to the right and repeat until the end of the unsorted part.</a:t>
            </a:r>
          </a:p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4. Shrink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The last element of each pass is in its final place, so the next pass stops one earlier.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926080"/>
            <a:ext cx="6035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Compare a[j] and a[j+1]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80" y="4206240"/>
            <a:ext cx="0" cy="82296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338560" y="5029200"/>
            <a:ext cx="6035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a[j] &gt; a[j+1] 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0" y="6309360"/>
            <a:ext cx="914400" cy="73152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910559" y="6309360"/>
            <a:ext cx="457200" cy="73152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875520" y="7040880"/>
            <a:ext cx="4023360" cy="1280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Yes: swap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0" y="7040880"/>
            <a:ext cx="356616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No: keep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8686800"/>
            <a:ext cx="81381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1">
                <a:solidFill>
                  <a:srgbClr val="000000"/>
                </a:solidFill>
                <a:latin typeface="Times New Roman"/>
              </a:rPr>
              <a:t>Both branches then advance to the next 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Working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01752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Input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5 1 4 2 8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3017520"/>
            <a:ext cx="2651760" cy="1737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Pass 1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3 swaps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017520"/>
            <a:ext cx="2651760" cy="1737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Pass 2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1 swap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01400" y="3017520"/>
            <a:ext cx="2651760" cy="1737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Pass 3</a:t>
            </a:r>
          </a:p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0 swaps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84680" y="301752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Sorted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1 2 4 5 8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3886200"/>
            <a:ext cx="640081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3886200"/>
            <a:ext cx="64008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0" y="3886200"/>
            <a:ext cx="64008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898880" y="3886200"/>
            <a:ext cx="640079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51560" y="5303520"/>
            <a:ext cx="16184880" cy="30175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Ins="548640" rtlCol="0" anchor="ctr"/>
          <a:lstStyle/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000000"/>
                </a:solidFill>
                <a:latin typeface="Courier New"/>
              </a:rPr>
              <a:t>Start       5 1 4 2 8</a:t>
            </a:r>
          </a:p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000000"/>
                </a:solidFill>
                <a:latin typeface="Courier New"/>
              </a:rPr>
              <a:t>Pass 1      1 4 2 5 8      (3 swaps)</a:t>
            </a:r>
          </a:p>
          <a:p>
            <a:pPr algn="l">
              <a:spcAft>
                <a:spcPts val="1400"/>
              </a:spcAft>
            </a:pPr>
            <a:r>
              <a:rPr sz="2600" b="0" i="0">
                <a:solidFill>
                  <a:srgbClr val="000000"/>
                </a:solidFill>
                <a:latin typeface="Courier New"/>
              </a:rPr>
              <a:t>Pass 2      1 2 4 5 8      (1 swap)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Courier New"/>
              </a:rPr>
              <a:t>Pass 3      1 2 4 5 8      (no swaps, so stop early)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Implementation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1338560" cy="6766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Ins="548640" rtlCol="0" anchor="ctr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def bubble_sort(arr):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n = len(arr)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for i in range(n - 1):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swapped = False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for j in range(n - 1 - i):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    if arr[j] &gt; arr[j + 1]: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        arr[j], arr[j + 1] = arr[j + 1], arr[j]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        swapped = True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if not swapped: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        break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Courier New"/>
              </a:rPr>
              <a:t>    return arr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0" y="2926080"/>
            <a:ext cx="4846320" cy="6766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t"/>
          <a:lstStyle/>
          <a:p>
            <a:pPr algn="l">
              <a:spcAft>
                <a:spcPts val="14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Key ideas</a:t>
            </a:r>
          </a:p>
          <a:p>
            <a:pPr algn="l">
              <a:spcAft>
                <a:spcPts val="14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The inner bound n − 1 − i skips the sorted tail on each pass.</a:t>
            </a:r>
          </a:p>
          <a:p>
            <a:pPr algn="l">
              <a:spcAft>
                <a:spcPts val="14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The swapped flag ends the sort early when a pass makes no swaps.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Best case is O(n) on already sorted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Technical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4892040"/>
            <a:ext cx="1097280" cy="388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8869680"/>
            <a:ext cx="1280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8001000"/>
            <a:ext cx="109728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8869680"/>
            <a:ext cx="1280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669279"/>
            <a:ext cx="1097280" cy="3108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8869680"/>
            <a:ext cx="1280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7223759"/>
            <a:ext cx="1097280" cy="1554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8869680"/>
            <a:ext cx="1280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560320"/>
            <a:ext cx="1097280" cy="6217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8869680"/>
            <a:ext cx="12801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ourier New"/>
              </a:rPr>
              <a:t>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8778240"/>
            <a:ext cx="740664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9418320"/>
            <a:ext cx="74066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1">
                <a:solidFill>
                  <a:srgbClr val="000000"/>
                </a:solidFill>
                <a:latin typeface="Times New Roman"/>
              </a:rPr>
              <a:t>Input values shown as bar heights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961120" y="2926080"/>
          <a:ext cx="8595360" cy="6080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Best-case time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O(n) with early exit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Average-case time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O(n²)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Worst-case time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O(n²)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Extra space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Stable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In-place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Where Bubble Sort Is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3108960"/>
            <a:ext cx="3017520" cy="4754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6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Small arrays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Overhead is negligible when n is small.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108960"/>
            <a:ext cx="3017520" cy="4754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6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Nearly sorted data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Early exit finishes in close to one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59" y="3108960"/>
            <a:ext cx="3017520" cy="4754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6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Sortedness check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One pass with no swaps proves the list is sorted.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0" y="3108960"/>
            <a:ext cx="3017520" cy="4754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600"/>
              </a:spcAft>
            </a:pPr>
            <a:r>
              <a:rPr sz="2800" b="1" i="0" dirty="0">
                <a:solidFill>
                  <a:srgbClr val="FFFFFF"/>
                </a:solidFill>
                <a:latin typeface="Times New Roman"/>
              </a:rPr>
              <a:t>Avoid for large data</a:t>
            </a:r>
          </a:p>
          <a:p>
            <a:pPr algn="ctr">
              <a:spcAft>
                <a:spcPts val="0"/>
              </a:spcAft>
            </a:pPr>
            <a:r>
              <a:rPr sz="2200" b="0" i="0" dirty="0">
                <a:solidFill>
                  <a:srgbClr val="FFFFFF"/>
                </a:solidFill>
                <a:latin typeface="Times New Roman"/>
              </a:rPr>
              <a:t>O(n²) time: use built-in O(n log n) sorts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1243584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000000"/>
                </a:solidFill>
                <a:latin typeface="Times New Roman"/>
              </a:rPr>
              <a:t>Challenges and Limitations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926080"/>
          <a:ext cx="16276320" cy="4800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3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Simple to write and verify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O(n²) average and worst-case time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In-place with O(1) extra memory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Many swaps on large random inputs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Stable: equal items keep their order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Slower than merge sort and quick sort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Early exit gives O(n) on sorted input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Early exit helps only nearly sorted data</a:t>
                      </a:r>
                    </a:p>
                  </a:txBody>
                  <a:tcPr marL="228600" marR="22860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8138160"/>
            <a:ext cx="16276320" cy="1188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Efficient only for small or nearly sorted inputs. Use O(n log n) sorts for large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6080" y="1047095"/>
            <a:ext cx="12435840" cy="9233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 dirty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6642080" cy="8229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Bubble sort: repeatedly swap adjacent out-of-order pairs until the list is sorted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4206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Unsorted 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4800600"/>
            <a:ext cx="128016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040880" y="4114800"/>
            <a:ext cx="4206240" cy="1371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Compare and swap passes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338560" y="4800600"/>
            <a:ext cx="128016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710160" y="4114800"/>
            <a:ext cx="4206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</a:rPr>
              <a:t>Sorted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0200" y="6210300"/>
            <a:ext cx="8046720" cy="3474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t"/>
          <a:lstStyle/>
          <a:p>
            <a:pPr algn="l">
              <a:spcAft>
                <a:spcPts val="120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Key Benefits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•  Simple and easy to verify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•  Stable and in-place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•  Early exit gives O(n) best case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•  Useful for teaching and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537" y="420399"/>
            <a:ext cx="2263082" cy="2263082"/>
          </a:xfrm>
          <a:custGeom>
            <a:avLst/>
            <a:gdLst/>
            <a:ahLst/>
            <a:cxnLst/>
            <a:rect l="l" t="t" r="r" b="b"/>
            <a:pathLst>
              <a:path w="2263082" h="2263082">
                <a:moveTo>
                  <a:pt x="0" y="0"/>
                </a:moveTo>
                <a:lnTo>
                  <a:pt x="2263083" y="0"/>
                </a:lnTo>
                <a:lnTo>
                  <a:pt x="2263083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336710" y="420399"/>
            <a:ext cx="2460895" cy="1894601"/>
          </a:xfrm>
          <a:custGeom>
            <a:avLst/>
            <a:gdLst/>
            <a:ahLst/>
            <a:cxnLst/>
            <a:rect l="l" t="t" r="r" b="b"/>
            <a:pathLst>
              <a:path w="2460895" h="1894601">
                <a:moveTo>
                  <a:pt x="0" y="0"/>
                </a:moveTo>
                <a:lnTo>
                  <a:pt x="2460895" y="0"/>
                </a:lnTo>
                <a:lnTo>
                  <a:pt x="2460895" y="1894601"/>
                </a:lnTo>
                <a:lnTo>
                  <a:pt x="0" y="189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994" r="-252662" b="-3813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hank you 15"/>
          <p:cNvSpPr txBox="1"/>
          <p:nvPr/>
        </p:nvSpPr>
        <p:spPr>
          <a:xfrm>
            <a:off x="3200400" y="4572000"/>
            <a:ext cx="118872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3108960"/>
            <a:ext cx="100584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9480" y="2560320"/>
            <a:ext cx="1005840" cy="1280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41080" y="2011680"/>
            <a:ext cx="100584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12680" y="1463040"/>
            <a:ext cx="1005840" cy="2377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384280" y="914400"/>
            <a:ext cx="1005840" cy="2926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797</Words>
  <Application>Microsoft Office PowerPoint</Application>
  <PresentationFormat>Custom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 Bold</vt:lpstr>
      <vt:lpstr>Courier New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CSA5114- CRYPTOGRAPHY AND NETWORK SECURITY</dc:title>
  <dc:creator>Nadesa Krishnan</dc:creator>
  <cp:lastModifiedBy>Natesa krishnan V</cp:lastModifiedBy>
  <cp:revision>7</cp:revision>
  <dcterms:created xsi:type="dcterms:W3CDTF">2006-08-16T00:00:00Z</dcterms:created>
  <dcterms:modified xsi:type="dcterms:W3CDTF">2026-10-22T03:56:19Z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7CCD4E966FDB4AA898DEA3BB8A49E522_13</vt:lpwstr>
  </property>
  <property fmtid="{D5CDD505-2E9C-101B-9397-08002B2CF9AE}" pid="3" name="KSOProductBuildVer">
    <vt:lpwstr>1033-12.1.0.29162</vt:lpwstr>
  </property>
</Properties>
</file>